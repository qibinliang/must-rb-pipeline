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18"/>
  </p:notesMasterIdLst>
  <p:sldIdLst>
    <p:sldId id="257" r:id="rId2"/>
    <p:sldId id="346" r:id="rId3"/>
    <p:sldId id="372" r:id="rId4"/>
    <p:sldId id="289" r:id="rId5"/>
    <p:sldId id="387" r:id="rId6"/>
    <p:sldId id="419" r:id="rId7"/>
    <p:sldId id="432" r:id="rId8"/>
    <p:sldId id="433" r:id="rId9"/>
    <p:sldId id="434" r:id="rId10"/>
    <p:sldId id="366" r:id="rId11"/>
    <p:sldId id="435" r:id="rId12"/>
    <p:sldId id="436" r:id="rId13"/>
    <p:sldId id="437" r:id="rId14"/>
    <p:sldId id="428" r:id="rId15"/>
    <p:sldId id="395" r:id="rId16"/>
    <p:sldId id="284" r:id="rId17"/>
  </p:sldIdLst>
  <p:sldSz cx="9001125" cy="5040313"/>
  <p:notesSz cx="6858000" cy="9144000"/>
  <p:custDataLst>
    <p:tags r:id="rId19"/>
  </p:custDataLst>
  <p:defaultTextStyle>
    <a:defPPr>
      <a:defRPr lang="zh-CN"/>
    </a:defPPr>
    <a:lvl1pPr marL="0" algn="l" defTabSz="80200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401320" algn="l" defTabSz="80200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802005" algn="l" defTabSz="80200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203325" algn="l" defTabSz="80200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1604645" algn="l" defTabSz="80200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2005965" algn="l" defTabSz="80200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2406650" algn="l" defTabSz="80200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2807970" algn="l" defTabSz="80200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3209290" algn="l" defTabSz="80200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7" userDrawn="1">
          <p15:clr>
            <a:srgbClr val="A4A3A4"/>
          </p15:clr>
        </p15:guide>
        <p15:guide id="2" pos="284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375E"/>
    <a:srgbClr val="FFFFFF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34" autoAdjust="0"/>
    <p:restoredTop sz="84819" autoAdjust="0"/>
  </p:normalViewPr>
  <p:slideViewPr>
    <p:cSldViewPr showGuides="1">
      <p:cViewPr varScale="1">
        <p:scale>
          <a:sx n="143" d="100"/>
          <a:sy n="143" d="100"/>
        </p:scale>
        <p:origin x="1304" y="184"/>
      </p:cViewPr>
      <p:guideLst>
        <p:guide orient="horz" pos="1587"/>
        <p:guide pos="2847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A5EAB1-25CC-4F72-A2FC-3BABBE5A9D32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74688" y="1143000"/>
            <a:ext cx="5508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B8BA23-BD00-4857-B603-DD487FFC396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B8BA23-BD00-4857-B603-DD487FFC396E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B8BA23-BD00-4857-B603-DD487FFC396E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流感病毒是由</a:t>
            </a: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neur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氨基酶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(NA)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和血凝素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(HA)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等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个节段组成的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RNA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病毒，可通过突变和基因重排产生新毒株</a:t>
            </a:r>
            <a:endParaRPr lang="en-US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1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耐药的发展仍然是现有</a:t>
            </a:r>
            <a:r>
              <a:rPr lang="en-US" altLang="zh-CN" sz="1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NAIs</a:t>
            </a:r>
            <a:r>
              <a:rPr lang="zh-CN" altLang="zh-CN" sz="1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的一个问题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B8BA23-BD00-4857-B603-DD487FFC396E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流感病毒是由</a:t>
            </a: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neur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氨基酶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(NA)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和血凝素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(HA)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等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个节段组成的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RNA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病毒，可通过突变和基因重排产生新毒株</a:t>
            </a:r>
            <a:endParaRPr lang="en-US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1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耐药的发展仍然是现有</a:t>
            </a:r>
            <a:r>
              <a:rPr lang="en-US" altLang="zh-CN" sz="1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NAIs</a:t>
            </a:r>
            <a:r>
              <a:rPr lang="zh-CN" altLang="zh-CN" sz="1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的一个问题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B8BA23-BD00-4857-B603-DD487FFC396E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B8BA23-BD00-4857-B603-DD487FFC396E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B8BA23-BD00-4857-B603-DD487FFC396E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B8BA23-BD00-4857-B603-DD487FFC396E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B8BA23-BD00-4857-B603-DD487FFC396E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B8BA23-BD00-4857-B603-DD487FFC396E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B8BA23-BD00-4857-B603-DD487FFC396E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B8BA23-BD00-4857-B603-DD487FFC396E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B8BA23-BD00-4857-B603-DD487FFC396E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B8BA23-BD00-4857-B603-DD487FFC396E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B8BA23-BD00-4857-B603-DD487FFC396E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B8BA23-BD00-4857-B603-DD487FFC396E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75085" y="1565764"/>
            <a:ext cx="7650956" cy="1080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50169" y="2856177"/>
            <a:ext cx="6300788" cy="12880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01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020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033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046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05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066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079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092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1027" y="3238868"/>
            <a:ext cx="7650956" cy="1001062"/>
          </a:xfrm>
        </p:spPr>
        <p:txBody>
          <a:bodyPr anchor="t"/>
          <a:lstStyle>
            <a:lvl1pPr algn="l">
              <a:defRPr sz="35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11027" y="2136300"/>
            <a:ext cx="7650956" cy="1102568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01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80200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20332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60464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200596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40665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80797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320929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0056" y="1176073"/>
            <a:ext cx="3975497" cy="3326374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5572" y="1176073"/>
            <a:ext cx="3975497" cy="3326374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0056" y="1128237"/>
            <a:ext cx="3977060" cy="470195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401320" indent="0">
              <a:buNone/>
              <a:defRPr sz="1800" b="1"/>
            </a:lvl2pPr>
            <a:lvl3pPr marL="802005" indent="0">
              <a:buNone/>
              <a:defRPr sz="1600" b="1"/>
            </a:lvl3pPr>
            <a:lvl4pPr marL="1203325" indent="0">
              <a:buNone/>
              <a:defRPr sz="1400" b="1"/>
            </a:lvl4pPr>
            <a:lvl5pPr marL="1604645" indent="0">
              <a:buNone/>
              <a:defRPr sz="1400" b="1"/>
            </a:lvl5pPr>
            <a:lvl6pPr marL="2005965" indent="0">
              <a:buNone/>
              <a:defRPr sz="1400" b="1"/>
            </a:lvl6pPr>
            <a:lvl7pPr marL="2406650" indent="0">
              <a:buNone/>
              <a:defRPr sz="1400" b="1"/>
            </a:lvl7pPr>
            <a:lvl8pPr marL="2807970" indent="0">
              <a:buNone/>
              <a:defRPr sz="1400" b="1"/>
            </a:lvl8pPr>
            <a:lvl9pPr marL="3209290" indent="0">
              <a:buNone/>
              <a:defRPr sz="14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0056" y="1598433"/>
            <a:ext cx="3977060" cy="2904014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572447" y="1128237"/>
            <a:ext cx="3978622" cy="470195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401320" indent="0">
              <a:buNone/>
              <a:defRPr sz="1800" b="1"/>
            </a:lvl2pPr>
            <a:lvl3pPr marL="802005" indent="0">
              <a:buNone/>
              <a:defRPr sz="1600" b="1"/>
            </a:lvl3pPr>
            <a:lvl4pPr marL="1203325" indent="0">
              <a:buNone/>
              <a:defRPr sz="1400" b="1"/>
            </a:lvl4pPr>
            <a:lvl5pPr marL="1604645" indent="0">
              <a:buNone/>
              <a:defRPr sz="1400" b="1"/>
            </a:lvl5pPr>
            <a:lvl6pPr marL="2005965" indent="0">
              <a:buNone/>
              <a:defRPr sz="1400" b="1"/>
            </a:lvl6pPr>
            <a:lvl7pPr marL="2406650" indent="0">
              <a:buNone/>
              <a:defRPr sz="1400" b="1"/>
            </a:lvl7pPr>
            <a:lvl8pPr marL="2807970" indent="0">
              <a:buNone/>
              <a:defRPr sz="1400" b="1"/>
            </a:lvl8pPr>
            <a:lvl9pPr marL="3209290" indent="0">
              <a:buNone/>
              <a:defRPr sz="14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572447" y="1598433"/>
            <a:ext cx="3978622" cy="2904014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0057" y="200679"/>
            <a:ext cx="2961308" cy="854053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19190" y="200679"/>
            <a:ext cx="5031879" cy="4301768"/>
          </a:xfrm>
        </p:spPr>
        <p:txBody>
          <a:bodyPr/>
          <a:lstStyle>
            <a:lvl1pPr>
              <a:defRPr sz="2800"/>
            </a:lvl1pPr>
            <a:lvl2pPr>
              <a:defRPr sz="25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0057" y="1054733"/>
            <a:ext cx="2961308" cy="3447714"/>
          </a:xfrm>
        </p:spPr>
        <p:txBody>
          <a:bodyPr/>
          <a:lstStyle>
            <a:lvl1pPr marL="0" indent="0">
              <a:buNone/>
              <a:defRPr sz="1200"/>
            </a:lvl1pPr>
            <a:lvl2pPr marL="401320" indent="0">
              <a:buNone/>
              <a:defRPr sz="1100"/>
            </a:lvl2pPr>
            <a:lvl3pPr marL="802005" indent="0">
              <a:buNone/>
              <a:defRPr sz="900"/>
            </a:lvl3pPr>
            <a:lvl4pPr marL="1203325" indent="0">
              <a:buNone/>
              <a:defRPr sz="800"/>
            </a:lvl4pPr>
            <a:lvl5pPr marL="1604645" indent="0">
              <a:buNone/>
              <a:defRPr sz="800"/>
            </a:lvl5pPr>
            <a:lvl6pPr marL="2005965" indent="0">
              <a:buNone/>
              <a:defRPr sz="800"/>
            </a:lvl6pPr>
            <a:lvl7pPr marL="2406650" indent="0">
              <a:buNone/>
              <a:defRPr sz="800"/>
            </a:lvl7pPr>
            <a:lvl8pPr marL="2807970" indent="0">
              <a:buNone/>
              <a:defRPr sz="800"/>
            </a:lvl8pPr>
            <a:lvl9pPr marL="3209290" indent="0"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64284" y="3528219"/>
            <a:ext cx="5400675" cy="416526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64284" y="450361"/>
            <a:ext cx="5400675" cy="3024188"/>
          </a:xfrm>
        </p:spPr>
        <p:txBody>
          <a:bodyPr/>
          <a:lstStyle>
            <a:lvl1pPr marL="0" indent="0">
              <a:buNone/>
              <a:defRPr sz="2800"/>
            </a:lvl1pPr>
            <a:lvl2pPr marL="401320" indent="0">
              <a:buNone/>
              <a:defRPr sz="2500"/>
            </a:lvl2pPr>
            <a:lvl3pPr marL="802005" indent="0">
              <a:buNone/>
              <a:defRPr sz="2100"/>
            </a:lvl3pPr>
            <a:lvl4pPr marL="1203325" indent="0">
              <a:buNone/>
              <a:defRPr sz="1800"/>
            </a:lvl4pPr>
            <a:lvl5pPr marL="1604645" indent="0">
              <a:buNone/>
              <a:defRPr sz="1800"/>
            </a:lvl5pPr>
            <a:lvl6pPr marL="2005965" indent="0">
              <a:buNone/>
              <a:defRPr sz="1800"/>
            </a:lvl6pPr>
            <a:lvl7pPr marL="2406650" indent="0">
              <a:buNone/>
              <a:defRPr sz="1800"/>
            </a:lvl7pPr>
            <a:lvl8pPr marL="2807970" indent="0">
              <a:buNone/>
              <a:defRPr sz="1800"/>
            </a:lvl8pPr>
            <a:lvl9pPr marL="3209290" indent="0">
              <a:buNone/>
              <a:defRPr sz="18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64284" y="3944746"/>
            <a:ext cx="5400675" cy="591536"/>
          </a:xfrm>
        </p:spPr>
        <p:txBody>
          <a:bodyPr/>
          <a:lstStyle>
            <a:lvl1pPr marL="0" indent="0">
              <a:buNone/>
              <a:defRPr sz="1200"/>
            </a:lvl1pPr>
            <a:lvl2pPr marL="401320" indent="0">
              <a:buNone/>
              <a:defRPr sz="1100"/>
            </a:lvl2pPr>
            <a:lvl3pPr marL="802005" indent="0">
              <a:buNone/>
              <a:defRPr sz="900"/>
            </a:lvl3pPr>
            <a:lvl4pPr marL="1203325" indent="0">
              <a:buNone/>
              <a:defRPr sz="800"/>
            </a:lvl4pPr>
            <a:lvl5pPr marL="1604645" indent="0">
              <a:buNone/>
              <a:defRPr sz="800"/>
            </a:lvl5pPr>
            <a:lvl6pPr marL="2005965" indent="0">
              <a:buNone/>
              <a:defRPr sz="800"/>
            </a:lvl6pPr>
            <a:lvl7pPr marL="2406650" indent="0">
              <a:buNone/>
              <a:defRPr sz="800"/>
            </a:lvl7pPr>
            <a:lvl8pPr marL="2807970" indent="0">
              <a:buNone/>
              <a:defRPr sz="800"/>
            </a:lvl8pPr>
            <a:lvl9pPr marL="3209290" indent="0"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25816" y="201847"/>
            <a:ext cx="2025253" cy="43006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0056" y="201847"/>
            <a:ext cx="5925741" cy="43006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0056" y="201846"/>
            <a:ext cx="8101013" cy="840052"/>
          </a:xfrm>
          <a:prstGeom prst="rect">
            <a:avLst/>
          </a:prstGeom>
        </p:spPr>
        <p:txBody>
          <a:bodyPr vert="horz" lIns="80229" tIns="40115" rIns="80229" bIns="40115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0056" y="1176073"/>
            <a:ext cx="8101013" cy="3326374"/>
          </a:xfrm>
          <a:prstGeom prst="rect">
            <a:avLst/>
          </a:prstGeom>
        </p:spPr>
        <p:txBody>
          <a:bodyPr vert="horz" lIns="80229" tIns="40115" rIns="80229" bIns="40115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0056" y="4671624"/>
            <a:ext cx="2100263" cy="268350"/>
          </a:xfrm>
          <a:prstGeom prst="rect">
            <a:avLst/>
          </a:prstGeom>
        </p:spPr>
        <p:txBody>
          <a:bodyPr vert="horz" lIns="80229" tIns="40115" rIns="80229" bIns="40115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  <a:ea typeface="微软雅黑" panose="020B0503020204020204" pitchFamily="34" charset="-122"/>
              </a:defRPr>
            </a:lvl1pPr>
          </a:lstStyle>
          <a:p>
            <a:fld id="{530820CF-B880-4189-942D-D702A7CBA730}" type="datetimeFigureOut">
              <a:rPr lang="zh-CN" altLang="en-US" smtClean="0"/>
              <a:t>2026/6/10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75385" y="4671624"/>
            <a:ext cx="2850356" cy="268350"/>
          </a:xfrm>
          <a:prstGeom prst="rect">
            <a:avLst/>
          </a:prstGeom>
        </p:spPr>
        <p:txBody>
          <a:bodyPr vert="horz" lIns="80229" tIns="40115" rIns="80229" bIns="40115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0806" y="4671624"/>
            <a:ext cx="2100263" cy="268350"/>
          </a:xfrm>
          <a:prstGeom prst="rect">
            <a:avLst/>
          </a:prstGeom>
        </p:spPr>
        <p:txBody>
          <a:bodyPr vert="horz" lIns="80229" tIns="40115" rIns="80229" bIns="40115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  <a:ea typeface="微软雅黑" panose="020B0503020204020204" pitchFamily="34" charset="-122"/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802005" rtl="0" eaLnBrk="1" latinLnBrk="0" hangingPunct="1">
        <a:spcBef>
          <a:spcPct val="0"/>
        </a:spcBef>
        <a:buNone/>
        <a:defRPr sz="3900" kern="1200">
          <a:solidFill>
            <a:schemeClr val="tx1"/>
          </a:solidFill>
          <a:latin typeface="+mj-lt"/>
          <a:ea typeface="微软雅黑" panose="020B0503020204020204" pitchFamily="34" charset="-122"/>
          <a:cs typeface="+mj-cs"/>
        </a:defRPr>
      </a:lvl1pPr>
    </p:titleStyle>
    <p:bodyStyle>
      <a:lvl1pPr marL="300990" indent="-300990" algn="l" defTabSz="802005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1pPr>
      <a:lvl2pPr marL="652145" indent="-250825" algn="l" defTabSz="802005" rtl="0" eaLnBrk="1" latinLnBrk="0" hangingPunct="1">
        <a:spcBef>
          <a:spcPct val="20000"/>
        </a:spcBef>
        <a:buFont typeface="Arial" panose="020B0604020202020204" pitchFamily="34" charset="0"/>
        <a:buChar char="–"/>
        <a:defRPr sz="25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2pPr>
      <a:lvl3pPr marL="1002665" indent="-200660" algn="l" defTabSz="802005" rtl="0" eaLnBrk="1" latinLnBrk="0" hangingPunct="1">
        <a:spcBef>
          <a:spcPct val="2000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3pPr>
      <a:lvl4pPr marL="1403985" indent="-200660" algn="l" defTabSz="802005" rtl="0" eaLnBrk="1" latinLnBrk="0" hangingPunct="1">
        <a:spcBef>
          <a:spcPct val="20000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4pPr>
      <a:lvl5pPr marL="1805305" indent="-200660" algn="l" defTabSz="802005" rtl="0" eaLnBrk="1" latinLnBrk="0" hangingPunct="1">
        <a:spcBef>
          <a:spcPct val="20000"/>
        </a:spcBef>
        <a:buFont typeface="Arial" panose="020B0604020202020204" pitchFamily="34" charset="0"/>
        <a:buChar char="»"/>
        <a:defRPr sz="18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5pPr>
      <a:lvl6pPr marL="2206625" indent="-200660" algn="l" defTabSz="802005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07310" indent="-200660" algn="l" defTabSz="802005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08630" indent="-200660" algn="l" defTabSz="802005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09950" indent="-200660" algn="l" defTabSz="802005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0200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01320" algn="l" defTabSz="80200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02005" algn="l" defTabSz="80200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03325" algn="l" defTabSz="80200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645" algn="l" defTabSz="80200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05965" algn="l" defTabSz="80200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06650" algn="l" defTabSz="80200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07970" algn="l" defTabSz="80200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09290" algn="l" defTabSz="80200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11084" y="1368028"/>
            <a:ext cx="9001125" cy="1801626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9858" tIns="44929" rIns="89858" bIns="44929"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79793" y="1568510"/>
            <a:ext cx="8496944" cy="396240"/>
          </a:xfrm>
          <a:prstGeom prst="rect">
            <a:avLst/>
          </a:prstGeom>
        </p:spPr>
        <p:txBody>
          <a:bodyPr wrap="square" lIns="89858" tIns="44929" rIns="89858" bIns="44929">
            <a:spAutoFit/>
          </a:bodyPr>
          <a:lstStyle/>
          <a:p>
            <a:pPr algn="ctr"/>
            <a:r>
              <a:rPr lang="zh-CN" altLang="en-US" sz="20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英文题目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1741265" y="2447798"/>
            <a:ext cx="546770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288249" y="2520441"/>
            <a:ext cx="8496944" cy="396240"/>
          </a:xfrm>
          <a:prstGeom prst="rect">
            <a:avLst/>
          </a:prstGeom>
        </p:spPr>
        <p:txBody>
          <a:bodyPr wrap="square" lIns="89858" tIns="44929" rIns="89858" bIns="44929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中文题目</a:t>
            </a:r>
          </a:p>
        </p:txBody>
      </p:sp>
      <p:sp>
        <p:nvSpPr>
          <p:cNvPr id="10" name="TextBox 12"/>
          <p:cNvSpPr txBox="1"/>
          <p:nvPr/>
        </p:nvSpPr>
        <p:spPr>
          <a:xfrm>
            <a:off x="1116186" y="3552828"/>
            <a:ext cx="3787709" cy="345033"/>
          </a:xfrm>
          <a:prstGeom prst="rect">
            <a:avLst/>
          </a:prstGeom>
          <a:noFill/>
        </p:spPr>
        <p:txBody>
          <a:bodyPr wrap="none" lIns="67376" tIns="33688" rIns="67376" bIns="3368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accent2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sz="1800" dirty="0">
                <a:solidFill>
                  <a:srgbClr val="1737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汇报人：澳门科技大学</a:t>
            </a:r>
            <a:r>
              <a:rPr lang="en-US" altLang="zh-CN" sz="1800" dirty="0">
                <a:solidFill>
                  <a:srgbClr val="1737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xxx</a:t>
            </a:r>
            <a:r>
              <a:rPr lang="zh-CN" altLang="en-US" sz="1800" dirty="0">
                <a:solidFill>
                  <a:srgbClr val="1737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（博一）</a:t>
            </a:r>
            <a:endParaRPr lang="en-US" altLang="zh-CN" sz="1800" dirty="0">
              <a:solidFill>
                <a:srgbClr val="17375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1910" y="6985"/>
            <a:ext cx="1313180" cy="1313180"/>
          </a:xfrm>
          <a:prstGeom prst="rect">
            <a:avLst/>
          </a:prstGeom>
        </p:spPr>
      </p:pic>
      <p:sp>
        <p:nvSpPr>
          <p:cNvPr id="5" name="TextBox 12">
            <a:extLst>
              <a:ext uri="{FF2B5EF4-FFF2-40B4-BE49-F238E27FC236}">
                <a16:creationId xmlns:a16="http://schemas.microsoft.com/office/drawing/2014/main" id="{FA9F60AA-9CCB-3520-1AD4-779486571BD5}"/>
              </a:ext>
            </a:extLst>
          </p:cNvPr>
          <p:cNvSpPr txBox="1"/>
          <p:nvPr/>
        </p:nvSpPr>
        <p:spPr>
          <a:xfrm>
            <a:off x="3866961" y="4392364"/>
            <a:ext cx="828565" cy="345033"/>
          </a:xfrm>
          <a:prstGeom prst="rect">
            <a:avLst/>
          </a:prstGeom>
          <a:noFill/>
        </p:spPr>
        <p:txBody>
          <a:bodyPr wrap="none" lIns="67376" tIns="33688" rIns="67376" bIns="3368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accent2"/>
                </a:solidFill>
                <a:latin typeface="+mn-ea"/>
                <a:ea typeface="+mn-ea"/>
              </a:defRPr>
            </a:lvl1pPr>
          </a:lstStyle>
          <a:p>
            <a:r>
              <a:rPr lang="zh-CN" altLang="en-CN" sz="1800" dirty="0">
                <a:solidFill>
                  <a:srgbClr val="1737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日期</a:t>
            </a:r>
            <a:r>
              <a:rPr lang="zh-CN" altLang="en-US" sz="1800" dirty="0">
                <a:solidFill>
                  <a:srgbClr val="1737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800" dirty="0">
              <a:solidFill>
                <a:srgbClr val="17375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12">
            <a:extLst>
              <a:ext uri="{FF2B5EF4-FFF2-40B4-BE49-F238E27FC236}">
                <a16:creationId xmlns:a16="http://schemas.microsoft.com/office/drawing/2014/main" id="{71CB3E0D-B3AE-0C27-60D1-65D1C18EE0CC}"/>
              </a:ext>
            </a:extLst>
          </p:cNvPr>
          <p:cNvSpPr txBox="1"/>
          <p:nvPr/>
        </p:nvSpPr>
        <p:spPr>
          <a:xfrm>
            <a:off x="5225863" y="3552827"/>
            <a:ext cx="1751895" cy="345033"/>
          </a:xfrm>
          <a:prstGeom prst="rect">
            <a:avLst/>
          </a:prstGeom>
          <a:noFill/>
        </p:spPr>
        <p:txBody>
          <a:bodyPr wrap="none" lIns="67376" tIns="33688" rIns="67376" bIns="3368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accent2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sz="1800" dirty="0">
                <a:solidFill>
                  <a:srgbClr val="1737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</a:t>
            </a:r>
            <a:r>
              <a:rPr lang="zh-CN" altLang="en-US" sz="1800">
                <a:solidFill>
                  <a:srgbClr val="1737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科学与技术</a:t>
            </a:r>
            <a:endParaRPr lang="en-US" altLang="zh-CN" sz="1800" dirty="0">
              <a:solidFill>
                <a:srgbClr val="17375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215" y="1011555"/>
            <a:ext cx="8101330" cy="3490595"/>
          </a:xfrm>
        </p:spPr>
        <p:txBody>
          <a:bodyPr>
            <a:normAutofit fontScale="90000"/>
          </a:bodyPr>
          <a:lstStyle/>
          <a:p>
            <a:pPr algn="l" fontAlgn="auto">
              <a:lnSpc>
                <a:spcPct val="150000"/>
              </a:lnSpc>
              <a:spcBef>
                <a:spcPts val="600"/>
              </a:spcBef>
              <a:buFont typeface="Wingdings" panose="05000000000000000000" charset="0"/>
              <a:buChar char="Ø"/>
            </a:pPr>
            <a:r>
              <a:rPr lang="zh-CN" altLang="en-US" dirty="0">
                <a:latin typeface="微软雅黑" panose="020B0503020204020204" pitchFamily="34" charset="-122"/>
                <a:cs typeface="微软雅黑" panose="020B0503020204020204" pitchFamily="34" charset="-122"/>
              </a:rPr>
              <a:t>文献介绍</a:t>
            </a:r>
          </a:p>
          <a:p>
            <a:pPr algn="l" fontAlgn="auto">
              <a:lnSpc>
                <a:spcPct val="150000"/>
              </a:lnSpc>
              <a:spcBef>
                <a:spcPts val="600"/>
              </a:spcBef>
              <a:buFont typeface="Wingdings" panose="05000000000000000000" charset="0"/>
              <a:buChar char="Ø"/>
            </a:pPr>
            <a:r>
              <a:rPr lang="zh-CN" altLang="en-US" dirty="0">
                <a:latin typeface="微软雅黑" panose="020B0503020204020204" pitchFamily="34" charset="-122"/>
                <a:cs typeface="微软雅黑" panose="020B0503020204020204" pitchFamily="34" charset="-122"/>
              </a:rPr>
              <a:t>研究问题</a:t>
            </a:r>
            <a:r>
              <a:rPr lang="zh-CN" altLang="en-US" sz="2500" dirty="0">
                <a:latin typeface="微软雅黑" panose="020B0503020204020204" pitchFamily="34" charset="-122"/>
                <a:cs typeface="微软雅黑" panose="020B0503020204020204" pitchFamily="34" charset="-122"/>
              </a:rPr>
              <a:t>（该研究主要聚焦解决了什么问题）</a:t>
            </a:r>
          </a:p>
          <a:p>
            <a:pPr algn="l" fontAlgn="auto">
              <a:lnSpc>
                <a:spcPct val="150000"/>
              </a:lnSpc>
              <a:spcBef>
                <a:spcPts val="600"/>
              </a:spcBef>
              <a:buFont typeface="Wingdings" panose="05000000000000000000" charset="0"/>
              <a:buChar char="Ø"/>
            </a:pPr>
            <a:r>
              <a:rPr lang="zh-CN" altLang="en-US" dirty="0">
                <a:latin typeface="微软雅黑" panose="020B0503020204020204" pitchFamily="34" charset="-122"/>
                <a:cs typeface="微软雅黑" panose="020B0503020204020204" pitchFamily="34" charset="-122"/>
              </a:rPr>
              <a:t>文献结果</a:t>
            </a:r>
            <a:r>
              <a:rPr lang="en-US" altLang="zh-CN" dirty="0">
                <a:latin typeface="微软雅黑" panose="020B0503020204020204" pitchFamily="34" charset="-122"/>
                <a:cs typeface="微软雅黑" panose="020B0503020204020204" pitchFamily="34" charset="-122"/>
              </a:rPr>
              <a:t>&amp;</a:t>
            </a:r>
            <a:r>
              <a:rPr lang="zh-CN" altLang="en-US" dirty="0">
                <a:latin typeface="微软雅黑" panose="020B0503020204020204" pitchFamily="34" charset="-122"/>
                <a:cs typeface="微软雅黑" panose="020B0503020204020204" pitchFamily="34" charset="-122"/>
              </a:rPr>
              <a:t>结论</a:t>
            </a:r>
          </a:p>
          <a:p>
            <a:pPr algn="l" fontAlgn="auto">
              <a:lnSpc>
                <a:spcPct val="150000"/>
              </a:lnSpc>
              <a:spcBef>
                <a:spcPts val="600"/>
              </a:spcBef>
              <a:buFont typeface="Wingdings" panose="05000000000000000000" charset="0"/>
              <a:buChar char="Ø"/>
            </a:pPr>
            <a:r>
              <a:rPr lang="zh-CN" altLang="en-US" dirty="0">
                <a:latin typeface="微软雅黑" panose="020B0503020204020204" pitchFamily="34" charset="-122"/>
                <a:cs typeface="微软雅黑" panose="020B0503020204020204" pitchFamily="34" charset="-122"/>
              </a:rPr>
              <a:t>文献研究方法</a:t>
            </a:r>
          </a:p>
          <a:p>
            <a:pPr algn="l" fontAlgn="auto">
              <a:lnSpc>
                <a:spcPct val="150000"/>
              </a:lnSpc>
              <a:spcBef>
                <a:spcPts val="600"/>
              </a:spcBef>
              <a:buFont typeface="Wingdings" panose="05000000000000000000" charset="0"/>
              <a:buChar char="Ø"/>
            </a:pPr>
            <a:r>
              <a:rPr lang="zh-CN" altLang="en-US" dirty="0"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讨论</a:t>
            </a:r>
            <a:r>
              <a:rPr lang="zh-CN" altLang="en-US" sz="2500" dirty="0"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（和现有类似研究的对比以及该研究不足和未来方向）</a:t>
            </a:r>
            <a:endParaRPr lang="en-US" altLang="zh-CN" sz="2500" dirty="0">
              <a:latin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 algn="l" fontAlgn="auto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None/>
            </a:pPr>
            <a:endParaRPr lang="zh-CN" altLang="en-US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/>
          <p:cNvSpPr/>
          <p:nvPr/>
        </p:nvSpPr>
        <p:spPr>
          <a:xfrm>
            <a:off x="-5228" y="142062"/>
            <a:ext cx="292359" cy="493944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364819" y="136731"/>
            <a:ext cx="120550" cy="49394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37" name="TextBox 8"/>
          <p:cNvSpPr txBox="1"/>
          <p:nvPr/>
        </p:nvSpPr>
        <p:spPr>
          <a:xfrm>
            <a:off x="554355" y="253683"/>
            <a:ext cx="6590030" cy="30734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defTabSz="63817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文献介绍</a:t>
            </a:r>
            <a:endParaRPr lang="zh-CN" altLang="en-US" sz="2500" b="1" dirty="0">
              <a:solidFill>
                <a:prstClr val="black">
                  <a:lumMod val="65000"/>
                  <a:lumOff val="35000"/>
                </a:prstClr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5" name="TextBox 12"/>
          <p:cNvSpPr txBox="1"/>
          <p:nvPr/>
        </p:nvSpPr>
        <p:spPr>
          <a:xfrm>
            <a:off x="683895" y="3816350"/>
            <a:ext cx="7703185" cy="1052195"/>
          </a:xfrm>
          <a:prstGeom prst="rect">
            <a:avLst/>
          </a:prstGeom>
          <a:noFill/>
        </p:spPr>
        <p:txBody>
          <a:bodyPr wrap="square" lIns="67376" tIns="33688" rIns="67376" bIns="3368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accent2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期刊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分区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JCR Q1                     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影响因子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作者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 et. al.</a:t>
            </a:r>
          </a:p>
          <a:p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单位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研究团队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等</a:t>
            </a:r>
          </a:p>
        </p:txBody>
      </p:sp>
      <p:pic>
        <p:nvPicPr>
          <p:cNvPr id="2" name="图片 1" descr="数字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86725" y="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-5228" y="142062"/>
            <a:ext cx="292359" cy="493944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64819" y="136731"/>
            <a:ext cx="120550" cy="49394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4438" y="253595"/>
            <a:ext cx="1617823" cy="30734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defTabSz="63817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研究背景</a:t>
            </a:r>
          </a:p>
        </p:txBody>
      </p:sp>
      <p:pic>
        <p:nvPicPr>
          <p:cNvPr id="4" name="图片 3" descr="数字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86725" y="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-5228" y="142062"/>
            <a:ext cx="292359" cy="493944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64819" y="136731"/>
            <a:ext cx="120550" cy="49394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4438" y="253595"/>
            <a:ext cx="1617823" cy="30734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defTabSz="63817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研究目的</a:t>
            </a:r>
          </a:p>
        </p:txBody>
      </p:sp>
      <p:pic>
        <p:nvPicPr>
          <p:cNvPr id="4" name="图片 3" descr="数字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86725" y="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-5228" y="142062"/>
            <a:ext cx="292359" cy="493944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64819" y="136731"/>
            <a:ext cx="120550" cy="49394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4438" y="253595"/>
            <a:ext cx="6898452" cy="30734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defTabSz="63817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文章结果：</a:t>
            </a:r>
            <a:endParaRPr lang="en-US" altLang="zh-CN" sz="2000" b="1" dirty="0">
              <a:solidFill>
                <a:prstClr val="black">
                  <a:lumMod val="65000"/>
                  <a:lumOff val="35000"/>
                </a:prstClr>
              </a:solidFill>
              <a:ea typeface="微软雅黑" panose="020B0503020204020204" pitchFamily="34" charset="-122"/>
            </a:endParaRPr>
          </a:p>
        </p:txBody>
      </p:sp>
      <p:pic>
        <p:nvPicPr>
          <p:cNvPr id="5" name="图片 4" descr="数字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86725" y="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-5228" y="142062"/>
            <a:ext cx="292359" cy="493944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64819" y="136731"/>
            <a:ext cx="120550" cy="49394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4438" y="253595"/>
            <a:ext cx="6898452" cy="30734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defTabSz="63817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文章结果：</a:t>
            </a:r>
            <a:endParaRPr lang="en-US" altLang="zh-CN" sz="2000" b="1" dirty="0">
              <a:solidFill>
                <a:prstClr val="black">
                  <a:lumMod val="65000"/>
                  <a:lumOff val="35000"/>
                </a:prstClr>
              </a:solidFill>
              <a:ea typeface="微软雅黑" panose="020B0503020204020204" pitchFamily="34" charset="-122"/>
            </a:endParaRPr>
          </a:p>
        </p:txBody>
      </p:sp>
      <p:pic>
        <p:nvPicPr>
          <p:cNvPr id="5" name="图片 4" descr="数字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86725" y="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-5228" y="142062"/>
            <a:ext cx="292359" cy="493944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64819" y="136731"/>
            <a:ext cx="120550" cy="49394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4438" y="253595"/>
            <a:ext cx="6898452" cy="30734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defTabSz="63817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文章结果：</a:t>
            </a:r>
            <a:endParaRPr lang="en-US" altLang="zh-CN" sz="2000" b="1" dirty="0">
              <a:solidFill>
                <a:prstClr val="black">
                  <a:lumMod val="65000"/>
                  <a:lumOff val="35000"/>
                </a:prstClr>
              </a:solidFill>
              <a:ea typeface="微软雅黑" panose="020B0503020204020204" pitchFamily="34" charset="-122"/>
            </a:endParaRPr>
          </a:p>
        </p:txBody>
      </p:sp>
      <p:pic>
        <p:nvPicPr>
          <p:cNvPr id="5" name="图片 4" descr="数字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86725" y="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-5228" y="142062"/>
            <a:ext cx="292359" cy="493944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64819" y="136731"/>
            <a:ext cx="120550" cy="49394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4438" y="253595"/>
            <a:ext cx="6898452" cy="30734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defTabSz="63817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文章结果：</a:t>
            </a:r>
            <a:endParaRPr lang="en-US" altLang="zh-CN" sz="2000" b="1" dirty="0">
              <a:solidFill>
                <a:prstClr val="black">
                  <a:lumMod val="65000"/>
                  <a:lumOff val="35000"/>
                </a:prstClr>
              </a:solidFill>
              <a:ea typeface="微软雅黑" panose="020B0503020204020204" pitchFamily="34" charset="-122"/>
            </a:endParaRPr>
          </a:p>
        </p:txBody>
      </p:sp>
      <p:pic>
        <p:nvPicPr>
          <p:cNvPr id="5" name="图片 4" descr="数字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86725" y="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-5228" y="142062"/>
            <a:ext cx="292359" cy="493944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64819" y="136731"/>
            <a:ext cx="120550" cy="49394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4438" y="253595"/>
            <a:ext cx="6898452" cy="30734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defTabSz="63817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文章思路</a:t>
            </a:r>
            <a:r>
              <a:rPr lang="en-US" altLang="zh-CN" sz="2000" b="1" dirty="0">
                <a:solidFill>
                  <a:prstClr val="black">
                    <a:lumMod val="65000"/>
                    <a:lumOff val="35000"/>
                  </a:prstClr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-</a:t>
            </a:r>
            <a:r>
              <a:rPr lang="zh-CN" alt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主要研究方法</a:t>
            </a:r>
          </a:p>
        </p:txBody>
      </p:sp>
      <p:pic>
        <p:nvPicPr>
          <p:cNvPr id="6" name="图片 5" descr="数字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86725" y="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-5228" y="142062"/>
            <a:ext cx="292359" cy="493944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64819" y="136731"/>
            <a:ext cx="120550" cy="49394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4438" y="253595"/>
            <a:ext cx="6898452" cy="30734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defTabSz="63817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文章思路</a:t>
            </a:r>
            <a:r>
              <a:rPr lang="en-US" altLang="zh-CN" sz="2000" b="1" dirty="0">
                <a:solidFill>
                  <a:prstClr val="black">
                    <a:lumMod val="65000"/>
                    <a:lumOff val="35000"/>
                  </a:prstClr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-</a:t>
            </a:r>
            <a:r>
              <a:rPr lang="zh-CN" alt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主要研究方法</a:t>
            </a:r>
          </a:p>
        </p:txBody>
      </p:sp>
      <p:pic>
        <p:nvPicPr>
          <p:cNvPr id="6" name="图片 5" descr="数字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86725" y="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-5228" y="142062"/>
            <a:ext cx="292359" cy="493944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64819" y="136731"/>
            <a:ext cx="120550" cy="49394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4438" y="253595"/>
            <a:ext cx="6898452" cy="30734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defTabSz="63817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文章思路</a:t>
            </a:r>
            <a:r>
              <a:rPr lang="en-US" altLang="zh-CN" sz="2000" b="1" dirty="0">
                <a:solidFill>
                  <a:prstClr val="black">
                    <a:lumMod val="65000"/>
                    <a:lumOff val="35000"/>
                  </a:prstClr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-</a:t>
            </a:r>
            <a:r>
              <a:rPr lang="zh-CN" alt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主要研究方法</a:t>
            </a:r>
          </a:p>
        </p:txBody>
      </p:sp>
      <p:pic>
        <p:nvPicPr>
          <p:cNvPr id="6" name="图片 5" descr="数字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86725" y="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-5228" y="142062"/>
            <a:ext cx="292359" cy="493944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64819" y="136731"/>
            <a:ext cx="120550" cy="49394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4438" y="253595"/>
            <a:ext cx="6898452" cy="30734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defTabSz="63817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文章思路</a:t>
            </a:r>
            <a:r>
              <a:rPr lang="en-US" altLang="zh-CN" sz="2000" b="1" dirty="0">
                <a:solidFill>
                  <a:prstClr val="black">
                    <a:lumMod val="65000"/>
                    <a:lumOff val="35000"/>
                  </a:prstClr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-</a:t>
            </a:r>
            <a:r>
              <a:rPr lang="zh-CN" alt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主要研究方法</a:t>
            </a:r>
          </a:p>
        </p:txBody>
      </p:sp>
      <p:pic>
        <p:nvPicPr>
          <p:cNvPr id="6" name="图片 5" descr="数字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86725" y="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-5228" y="142062"/>
            <a:ext cx="292359" cy="493944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64819" y="136731"/>
            <a:ext cx="120550" cy="49394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4438" y="253595"/>
            <a:ext cx="4666204" cy="30734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defTabSz="63817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讨论</a:t>
            </a:r>
          </a:p>
        </p:txBody>
      </p:sp>
      <p:pic>
        <p:nvPicPr>
          <p:cNvPr id="2" name="图片 1" descr="数字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86725" y="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-5228" y="142062"/>
            <a:ext cx="292359" cy="493944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64819" y="136731"/>
            <a:ext cx="120550" cy="49394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4438" y="253595"/>
            <a:ext cx="4666204" cy="30734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defTabSz="63817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讨论</a:t>
            </a:r>
          </a:p>
        </p:txBody>
      </p:sp>
      <p:pic>
        <p:nvPicPr>
          <p:cNvPr id="2" name="图片 1" descr="数字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86725" y="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1" y="1619343"/>
            <a:ext cx="9001125" cy="1801626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9858" tIns="44929" rIns="89858" bIns="44929"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44177" y="2016100"/>
            <a:ext cx="7230053" cy="750570"/>
          </a:xfrm>
          <a:prstGeom prst="rect">
            <a:avLst/>
          </a:prstGeom>
        </p:spPr>
        <p:txBody>
          <a:bodyPr wrap="square" lIns="89858" tIns="44929" rIns="89858" bIns="44929">
            <a:spAutoFit/>
          </a:bodyPr>
          <a:lstStyle/>
          <a:p>
            <a:pPr algn="ctr"/>
            <a:r>
              <a:rPr lang="zh-CN" altLang="en-US" sz="43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感谢聆听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1752348" y="2960008"/>
            <a:ext cx="546770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圆角矩形 11"/>
          <p:cNvSpPr/>
          <p:nvPr/>
        </p:nvSpPr>
        <p:spPr>
          <a:xfrm>
            <a:off x="3235869" y="2807245"/>
            <a:ext cx="2488828" cy="282254"/>
          </a:xfrm>
          <a:prstGeom prst="roundRect">
            <a:avLst/>
          </a:prstGeom>
          <a:solidFill>
            <a:srgbClr val="17375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9829" tIns="44914" rIns="89829" bIns="44914" rtlCol="0" anchor="ctr"/>
          <a:lstStyle/>
          <a:p>
            <a:pPr algn="ctr" defTabSz="897890"/>
            <a:endParaRPr lang="zh-CN" altLang="en-US" sz="16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 tmFilter="0,0; .5, 1; 1, 1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49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649"/>
                            </p:stCondLst>
                            <p:childTnLst>
                              <p:par>
                                <p:cTn id="21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12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e60b31f6-63ec-4181-8b1c-56fa4715f280"/>
  <p:tag name="COMMONDATA" val="eyJoZGlkIjoiNWFlNDhiODM5NGY5YzA1MDA3M2JmZjRkMDk3MzBhMm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OPIC_ID" val="2869567"/>
  <p:tag name="KSO_WM_TEMPLATE_OUTLINE_ID" val="15"/>
  <p:tag name="KSO_WM_TEMPLATE_SCENE_ID" val="1"/>
  <p:tag name="KSO_WM_TEMPLATE_JOB_ID" val="2"/>
  <p:tag name="KSO_WM_TEMPLATE_TOPIC_DEFAULT" val="1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239</Words>
  <Application>Microsoft Macintosh PowerPoint</Application>
  <PresentationFormat>Custom</PresentationFormat>
  <Paragraphs>51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等线</vt:lpstr>
      <vt:lpstr>微软雅黑</vt:lpstr>
      <vt:lpstr>Arial</vt:lpstr>
      <vt:lpstr>Calibri</vt:lpstr>
      <vt:lpstr>Times New Roman</vt:lpstr>
      <vt:lpstr>Wingdings</vt:lpstr>
      <vt:lpstr>Office 主题</vt:lpstr>
      <vt:lpstr>PowerPoint Presentation</vt:lpstr>
      <vt:lpstr>目录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>http:/www.ypppt.com</cp:keywords>
  <cp:lastModifiedBy>杨海波</cp:lastModifiedBy>
  <cp:revision>76</cp:revision>
  <dcterms:created xsi:type="dcterms:W3CDTF">2018-04-25T07:52:00Z</dcterms:created>
  <dcterms:modified xsi:type="dcterms:W3CDTF">2026-06-10T05:25:42Z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RubyTemplateID">
    <vt:lpwstr>2</vt:lpwstr>
  </property>
  <property fmtid="{D5CDD505-2E9C-101B-9397-08002B2CF9AE}" pid="3" name="KSOProductBuildVer">
    <vt:lpwstr>2052-12.1.0.22529</vt:lpwstr>
  </property>
  <property fmtid="{D5CDD505-2E9C-101B-9397-08002B2CF9AE}" pid="4" name="ICV">
    <vt:lpwstr>264155912C3E46F5883982224D8014FE_13</vt:lpwstr>
  </property>
</Properties>
</file>